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3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98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68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7B49-7962-B1BC-C542-F08BD357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D229F-109D-D81D-B11E-A3E227678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C855A-BF4C-9C82-C479-BDA043E19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E0528-CB5B-0B90-ECBD-487AD926C1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99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4F63-D2A7-30BF-3B5C-886227B8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F732B-7D61-D739-936D-CEA0CCBDA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4FE97-8177-2259-35B5-9870AAC39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8DFE2-FE0F-0A24-83E4-756433864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24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" y="777240"/>
            <a:ext cx="1005840" cy="10058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05840" y="777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8313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Transcription Automated Module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 AI  ·  FFmpeg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 ·  WAV  ·  M4A  ·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82740" y="4526280"/>
            <a:ext cx="2461260" cy="411480"/>
          </a:xfrm>
          <a:prstGeom prst="rect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82740" y="4526280"/>
            <a:ext cx="2461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00"/>
                </a:solidFill>
              </a:rPr>
              <a:t>speechtoscript.netlify.app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Interface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347472" cy="347472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67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audio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980944"/>
            <a:ext cx="347472" cy="347472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083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or International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3282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3009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49624"/>
            <a:ext cx="347472" cy="347472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Transcribe &amp; Translate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formats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 WAV  M4A  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E4CCCE-F25B-C392-3EE4-D93B42B1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61" t="8548" r="25000" b="3995"/>
          <a:stretch>
            <a:fillRect/>
          </a:stretch>
        </p:blipFill>
        <p:spPr>
          <a:xfrm>
            <a:off x="4568482" y="822960"/>
            <a:ext cx="4255478" cy="361539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D3D2E3F-E19F-6D23-D7F6-624C6C67960D}"/>
              </a:ext>
            </a:extLst>
          </p:cNvPr>
          <p:cNvSpPr/>
          <p:nvPr/>
        </p:nvSpPr>
        <p:spPr>
          <a:xfrm>
            <a:off x="6365631" y="2734056"/>
            <a:ext cx="942535" cy="13575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4FC-AA06-F7B9-FDD6-D68379451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FDD541-61B7-47C0-D579-0C87CC0CB8E4}"/>
              </a:ext>
            </a:extLst>
          </p:cNvPr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6C28C9-1F6E-481A-4C64-1159DA0F81F2}"/>
              </a:ext>
            </a:extLst>
          </p:cNvPr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S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plit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i="1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7BBCDC2-67A9-9D9E-AC9F-C92B5840478E}"/>
              </a:ext>
            </a:extLst>
          </p:cNvPr>
          <p:cNvSpPr/>
          <p:nvPr/>
        </p:nvSpPr>
        <p:spPr>
          <a:xfrm>
            <a:off x="390378" y="1394460"/>
            <a:ext cx="1234440" cy="8229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D850DA-80C7-6AC6-86EE-809638EBC0B3}"/>
              </a:ext>
            </a:extLst>
          </p:cNvPr>
          <p:cNvSpPr/>
          <p:nvPr/>
        </p:nvSpPr>
        <p:spPr>
          <a:xfrm>
            <a:off x="390378" y="1394460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AB7928-3643-5FAF-8952-F5891D356B06}"/>
              </a:ext>
            </a:extLst>
          </p:cNvPr>
          <p:cNvSpPr/>
          <p:nvPr/>
        </p:nvSpPr>
        <p:spPr>
          <a:xfrm>
            <a:off x="390378" y="1904695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upload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C0647C-2453-C916-34D7-AB5B342FA666}"/>
              </a:ext>
            </a:extLst>
          </p:cNvPr>
          <p:cNvSpPr/>
          <p:nvPr/>
        </p:nvSpPr>
        <p:spPr>
          <a:xfrm>
            <a:off x="1643106" y="1805940"/>
            <a:ext cx="146304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06CA65F-49FF-75AF-DEB2-3B72505BE44A}"/>
              </a:ext>
            </a:extLst>
          </p:cNvPr>
          <p:cNvSpPr/>
          <p:nvPr/>
        </p:nvSpPr>
        <p:spPr>
          <a:xfrm>
            <a:off x="1661394" y="16962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9F9FB6C-E7EB-F327-3AAB-2880DBFC6F99}"/>
              </a:ext>
            </a:extLst>
          </p:cNvPr>
          <p:cNvSpPr/>
          <p:nvPr/>
        </p:nvSpPr>
        <p:spPr>
          <a:xfrm>
            <a:off x="1807698" y="1394460"/>
            <a:ext cx="1234440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21709D-502A-D226-DCE2-A3DE724BF7A0}"/>
              </a:ext>
            </a:extLst>
          </p:cNvPr>
          <p:cNvSpPr/>
          <p:nvPr/>
        </p:nvSpPr>
        <p:spPr>
          <a:xfrm>
            <a:off x="1807698" y="1394460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B95DCD-3517-E754-CAF7-DA64C24E27E0}"/>
              </a:ext>
            </a:extLst>
          </p:cNvPr>
          <p:cNvSpPr/>
          <p:nvPr/>
        </p:nvSpPr>
        <p:spPr>
          <a:xfrm>
            <a:off x="1807698" y="1904695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BE806E0-2D97-21F0-3062-01B0FCA7BF78}"/>
              </a:ext>
            </a:extLst>
          </p:cNvPr>
          <p:cNvSpPr/>
          <p:nvPr/>
        </p:nvSpPr>
        <p:spPr>
          <a:xfrm>
            <a:off x="3060426" y="1805940"/>
            <a:ext cx="146304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5B2A937-8F84-FDD6-0E6E-560A6BBA0493}"/>
              </a:ext>
            </a:extLst>
          </p:cNvPr>
          <p:cNvSpPr/>
          <p:nvPr/>
        </p:nvSpPr>
        <p:spPr>
          <a:xfrm>
            <a:off x="3078714" y="16962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27482B2-738B-B417-D1DD-352EB9692877}"/>
              </a:ext>
            </a:extLst>
          </p:cNvPr>
          <p:cNvSpPr/>
          <p:nvPr/>
        </p:nvSpPr>
        <p:spPr>
          <a:xfrm>
            <a:off x="3225018" y="1394460"/>
            <a:ext cx="1234440" cy="822960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343B9F2-6FE7-0278-8B59-EB5708AC70AB}"/>
              </a:ext>
            </a:extLst>
          </p:cNvPr>
          <p:cNvSpPr/>
          <p:nvPr/>
        </p:nvSpPr>
        <p:spPr>
          <a:xfrm>
            <a:off x="3225018" y="1394460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87E2A9A-5DC1-6BC5-629F-4FB232EE40AD}"/>
              </a:ext>
            </a:extLst>
          </p:cNvPr>
          <p:cNvSpPr/>
          <p:nvPr/>
        </p:nvSpPr>
        <p:spPr>
          <a:xfrm>
            <a:off x="3225018" y="1904695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chunks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B6800AF-68CD-1BE9-56F2-229F40A4C538}"/>
              </a:ext>
            </a:extLst>
          </p:cNvPr>
          <p:cNvSpPr/>
          <p:nvPr/>
        </p:nvSpPr>
        <p:spPr>
          <a:xfrm>
            <a:off x="4477746" y="1805940"/>
            <a:ext cx="146304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FFA719-BA85-3086-C8F9-539CC03FDA69}"/>
              </a:ext>
            </a:extLst>
          </p:cNvPr>
          <p:cNvSpPr/>
          <p:nvPr/>
        </p:nvSpPr>
        <p:spPr>
          <a:xfrm>
            <a:off x="4496034" y="16962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78B8150-4AD8-492E-1AA1-F5C7C76CACEA}"/>
              </a:ext>
            </a:extLst>
          </p:cNvPr>
          <p:cNvSpPr/>
          <p:nvPr/>
        </p:nvSpPr>
        <p:spPr>
          <a:xfrm>
            <a:off x="4642338" y="1394460"/>
            <a:ext cx="1234440" cy="8229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2970F9C-21FA-7CA4-62AE-0873A4EC6D68}"/>
              </a:ext>
            </a:extLst>
          </p:cNvPr>
          <p:cNvSpPr/>
          <p:nvPr/>
        </p:nvSpPr>
        <p:spPr>
          <a:xfrm>
            <a:off x="4642338" y="1394460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CB2CCF5-830E-104E-E4EC-FAA49FB432AD}"/>
              </a:ext>
            </a:extLst>
          </p:cNvPr>
          <p:cNvSpPr/>
          <p:nvPr/>
        </p:nvSpPr>
        <p:spPr>
          <a:xfrm>
            <a:off x="5895066" y="1805940"/>
            <a:ext cx="146304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DA42F9E-8B09-8422-83B7-5FB66836A20F}"/>
              </a:ext>
            </a:extLst>
          </p:cNvPr>
          <p:cNvSpPr/>
          <p:nvPr/>
        </p:nvSpPr>
        <p:spPr>
          <a:xfrm>
            <a:off x="5913354" y="16962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B4165BE-3CF5-09EC-C386-2E0BDD889406}"/>
              </a:ext>
            </a:extLst>
          </p:cNvPr>
          <p:cNvSpPr/>
          <p:nvPr/>
        </p:nvSpPr>
        <p:spPr>
          <a:xfrm>
            <a:off x="6059658" y="1394460"/>
            <a:ext cx="1234440" cy="822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A1A7587-7D7A-1E32-2EDA-58BF4D1AAE7E}"/>
              </a:ext>
            </a:extLst>
          </p:cNvPr>
          <p:cNvSpPr/>
          <p:nvPr/>
        </p:nvSpPr>
        <p:spPr>
          <a:xfrm>
            <a:off x="6059658" y="1394460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4F1358D-5153-7561-B93B-561E87B883D0}"/>
              </a:ext>
            </a:extLst>
          </p:cNvPr>
          <p:cNvSpPr/>
          <p:nvPr/>
        </p:nvSpPr>
        <p:spPr>
          <a:xfrm>
            <a:off x="6059658" y="1904695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B0F64F6-000B-9BA5-70AB-EDE20DAA6CB2}"/>
              </a:ext>
            </a:extLst>
          </p:cNvPr>
          <p:cNvSpPr/>
          <p:nvPr/>
        </p:nvSpPr>
        <p:spPr>
          <a:xfrm>
            <a:off x="7312386" y="1805940"/>
            <a:ext cx="146304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ADE53F5-34FC-8694-BDB2-BA633490073C}"/>
              </a:ext>
            </a:extLst>
          </p:cNvPr>
          <p:cNvSpPr/>
          <p:nvPr/>
        </p:nvSpPr>
        <p:spPr>
          <a:xfrm>
            <a:off x="7330674" y="16962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1078DAB-59A3-1663-89D0-2EA3CBF09591}"/>
              </a:ext>
            </a:extLst>
          </p:cNvPr>
          <p:cNvSpPr/>
          <p:nvPr/>
        </p:nvSpPr>
        <p:spPr>
          <a:xfrm>
            <a:off x="7476978" y="1394460"/>
            <a:ext cx="1234440" cy="822960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32834C8-E442-0378-3C38-9E9233256207}"/>
              </a:ext>
            </a:extLst>
          </p:cNvPr>
          <p:cNvSpPr/>
          <p:nvPr/>
        </p:nvSpPr>
        <p:spPr>
          <a:xfrm>
            <a:off x="7476978" y="1394460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CA8D7E8-D926-9CD2-DF89-AFF2ED3549DB}"/>
              </a:ext>
            </a:extLst>
          </p:cNvPr>
          <p:cNvSpPr/>
          <p:nvPr/>
        </p:nvSpPr>
        <p:spPr>
          <a:xfrm>
            <a:off x="7476978" y="1904695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</a:t>
            </a:r>
            <a:endParaRPr lang="en-US" sz="9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E745034-5853-109A-0595-3AED25ED1865}"/>
              </a:ext>
            </a:extLst>
          </p:cNvPr>
          <p:cNvSpPr/>
          <p:nvPr/>
        </p:nvSpPr>
        <p:spPr>
          <a:xfrm>
            <a:off x="390378" y="2226563"/>
            <a:ext cx="1234440" cy="371387"/>
          </a:xfrm>
          <a:prstGeom prst="rect">
            <a:avLst/>
          </a:prstGeom>
          <a:solidFill>
            <a:srgbClr val="92D050"/>
          </a:solidFill>
          <a:ln w="635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D4C61B4-7655-2F08-225A-242F71D8DBEB}"/>
              </a:ext>
            </a:extLst>
          </p:cNvPr>
          <p:cNvSpPr/>
          <p:nvPr/>
        </p:nvSpPr>
        <p:spPr>
          <a:xfrm>
            <a:off x="1807698" y="2222977"/>
            <a:ext cx="1234440" cy="374974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4E9DB80-47FC-9335-9664-436B039A6B43}"/>
              </a:ext>
            </a:extLst>
          </p:cNvPr>
          <p:cNvSpPr/>
          <p:nvPr/>
        </p:nvSpPr>
        <p:spPr>
          <a:xfrm>
            <a:off x="1807698" y="2222977"/>
            <a:ext cx="1234440" cy="374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/>
              <a:t>Auto Splitting 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5B8BA7F-959A-CDD6-66DD-1FE337AF1553}"/>
              </a:ext>
            </a:extLst>
          </p:cNvPr>
          <p:cNvSpPr/>
          <p:nvPr/>
        </p:nvSpPr>
        <p:spPr>
          <a:xfrm>
            <a:off x="3225018" y="2223680"/>
            <a:ext cx="1234440" cy="368292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8DC4FE6-E3F5-A634-93CC-B76D54123FC3}"/>
              </a:ext>
            </a:extLst>
          </p:cNvPr>
          <p:cNvSpPr/>
          <p:nvPr/>
        </p:nvSpPr>
        <p:spPr>
          <a:xfrm>
            <a:off x="3225018" y="2223680"/>
            <a:ext cx="1234440" cy="368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Split upload</a:t>
            </a:r>
            <a:endParaRPr lang="en-US" sz="1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EE3DA89-5735-F483-9E19-2FD6AD41B3E3}"/>
              </a:ext>
            </a:extLst>
          </p:cNvPr>
          <p:cNvSpPr/>
          <p:nvPr/>
        </p:nvSpPr>
        <p:spPr>
          <a:xfrm>
            <a:off x="4636242" y="2223680"/>
            <a:ext cx="1234440" cy="368292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E808017-02F6-137E-77CA-BA9A1CCA5B47}"/>
              </a:ext>
            </a:extLst>
          </p:cNvPr>
          <p:cNvSpPr/>
          <p:nvPr/>
        </p:nvSpPr>
        <p:spPr>
          <a:xfrm>
            <a:off x="4636242" y="2222977"/>
            <a:ext cx="1234440" cy="368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Transcribing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DF62233-4A87-FCBB-E883-8BF103F80251}"/>
              </a:ext>
            </a:extLst>
          </p:cNvPr>
          <p:cNvSpPr/>
          <p:nvPr/>
        </p:nvSpPr>
        <p:spPr>
          <a:xfrm>
            <a:off x="6059658" y="2226388"/>
            <a:ext cx="1234440" cy="395654"/>
          </a:xfrm>
          <a:prstGeom prst="rect">
            <a:avLst/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0079110-371D-EFCA-8E0D-2EB0EAAB3BB5}"/>
              </a:ext>
            </a:extLst>
          </p:cNvPr>
          <p:cNvSpPr/>
          <p:nvPr/>
        </p:nvSpPr>
        <p:spPr>
          <a:xfrm>
            <a:off x="6035274" y="2261909"/>
            <a:ext cx="1258824" cy="36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Merging of transcribed segments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32BD8E1-1D80-C0A0-8C0E-6107C61EA99B}"/>
              </a:ext>
            </a:extLst>
          </p:cNvPr>
          <p:cNvSpPr/>
          <p:nvPr/>
        </p:nvSpPr>
        <p:spPr>
          <a:xfrm>
            <a:off x="7476978" y="2217420"/>
            <a:ext cx="1234440" cy="274320"/>
          </a:xfrm>
          <a:prstGeom prst="rect">
            <a:avLst/>
          </a:prstGeom>
          <a:solidFill>
            <a:srgbClr val="92D050"/>
          </a:solidFill>
          <a:ln w="635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CF6A44A-26E4-83B0-CCC9-FD125C4C70CE}"/>
              </a:ext>
            </a:extLst>
          </p:cNvPr>
          <p:cNvSpPr/>
          <p:nvPr/>
        </p:nvSpPr>
        <p:spPr>
          <a:xfrm>
            <a:off x="7476978" y="2217420"/>
            <a:ext cx="1234440" cy="354330"/>
          </a:xfrm>
          <a:prstGeom prst="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r>
              <a:rPr lang="en-US" sz="80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8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79FC96C-73C9-5A4E-1C0E-3825FDD6917F}"/>
              </a:ext>
            </a:extLst>
          </p:cNvPr>
          <p:cNvSpPr/>
          <p:nvPr/>
        </p:nvSpPr>
        <p:spPr>
          <a:xfrm>
            <a:off x="390378" y="2226563"/>
            <a:ext cx="1234440" cy="3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 Audio</a:t>
            </a:r>
            <a:endParaRPr lang="en-US" sz="1000" b="1" dirty="0"/>
          </a:p>
        </p:txBody>
      </p:sp>
      <p:sp>
        <p:nvSpPr>
          <p:cNvPr id="68" name="Shape 51">
            <a:extLst>
              <a:ext uri="{FF2B5EF4-FFF2-40B4-BE49-F238E27FC236}">
                <a16:creationId xmlns:a16="http://schemas.microsoft.com/office/drawing/2014/main" id="{3E929F19-9705-B308-C2D2-7EA6D9648F5A}"/>
              </a:ext>
            </a:extLst>
          </p:cNvPr>
          <p:cNvSpPr/>
          <p:nvPr/>
        </p:nvSpPr>
        <p:spPr>
          <a:xfrm>
            <a:off x="417810" y="3264408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52">
            <a:extLst>
              <a:ext uri="{FF2B5EF4-FFF2-40B4-BE49-F238E27FC236}">
                <a16:creationId xmlns:a16="http://schemas.microsoft.com/office/drawing/2014/main" id="{A54E7E02-105E-66C4-2CCC-C5443D7D5F09}"/>
              </a:ext>
            </a:extLst>
          </p:cNvPr>
          <p:cNvSpPr/>
          <p:nvPr/>
        </p:nvSpPr>
        <p:spPr>
          <a:xfrm>
            <a:off x="60069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Output</a:t>
            </a:r>
            <a:endParaRPr lang="en-US" sz="1100" dirty="0"/>
          </a:p>
        </p:txBody>
      </p:sp>
      <p:sp>
        <p:nvSpPr>
          <p:cNvPr id="70" name="Shape 53">
            <a:extLst>
              <a:ext uri="{FF2B5EF4-FFF2-40B4-BE49-F238E27FC236}">
                <a16:creationId xmlns:a16="http://schemas.microsoft.com/office/drawing/2014/main" id="{06871B77-4DD2-74DB-0640-EBD03B8B979E}"/>
              </a:ext>
            </a:extLst>
          </p:cNvPr>
          <p:cNvSpPr/>
          <p:nvPr/>
        </p:nvSpPr>
        <p:spPr>
          <a:xfrm>
            <a:off x="554970" y="3584448"/>
            <a:ext cx="3749040" cy="685800"/>
          </a:xfrm>
          <a:prstGeom prst="rect">
            <a:avLst/>
          </a:prstGeom>
          <a:solidFill>
            <a:srgbClr val="F1EFE8"/>
          </a:solidFill>
          <a:ln w="635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54">
            <a:extLst>
              <a:ext uri="{FF2B5EF4-FFF2-40B4-BE49-F238E27FC236}">
                <a16:creationId xmlns:a16="http://schemas.microsoft.com/office/drawing/2014/main" id="{8860DDBE-348B-38CD-D626-B78741278AD0}"/>
              </a:ext>
            </a:extLst>
          </p:cNvPr>
          <p:cNvSpPr/>
          <p:nvPr/>
        </p:nvSpPr>
        <p:spPr>
          <a:xfrm>
            <a:off x="646410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Original text (native script)</a:t>
            </a:r>
            <a:endParaRPr lang="en-US" sz="1100" dirty="0"/>
          </a:p>
        </p:txBody>
      </p:sp>
      <p:sp>
        <p:nvSpPr>
          <p:cNvPr id="72" name="Text 55">
            <a:extLst>
              <a:ext uri="{FF2B5EF4-FFF2-40B4-BE49-F238E27FC236}">
                <a16:creationId xmlns:a16="http://schemas.microsoft.com/office/drawing/2014/main" id="{30BA41CF-422A-D9EC-52CF-AE277DE61D70}"/>
              </a:ext>
            </a:extLst>
          </p:cNvPr>
          <p:cNvSpPr/>
          <p:nvPr/>
        </p:nvSpPr>
        <p:spPr>
          <a:xfrm>
            <a:off x="646410" y="3867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labels  ·  Filler words  ·  [unclear] / [silence]</a:t>
            </a:r>
            <a:endParaRPr lang="en-US" sz="900" dirty="0"/>
          </a:p>
        </p:txBody>
      </p:sp>
      <p:sp>
        <p:nvSpPr>
          <p:cNvPr id="73" name="Shape 56">
            <a:extLst>
              <a:ext uri="{FF2B5EF4-FFF2-40B4-BE49-F238E27FC236}">
                <a16:creationId xmlns:a16="http://schemas.microsoft.com/office/drawing/2014/main" id="{93F10BAB-B944-2DE4-76F1-B7F52F9A8314}"/>
              </a:ext>
            </a:extLst>
          </p:cNvPr>
          <p:cNvSpPr/>
          <p:nvPr/>
        </p:nvSpPr>
        <p:spPr>
          <a:xfrm>
            <a:off x="4669770" y="3584448"/>
            <a:ext cx="4069080" cy="68580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57">
            <a:extLst>
              <a:ext uri="{FF2B5EF4-FFF2-40B4-BE49-F238E27FC236}">
                <a16:creationId xmlns:a16="http://schemas.microsoft.com/office/drawing/2014/main" id="{777200EA-489E-D9D0-49FE-FD147F6A6018}"/>
              </a:ext>
            </a:extLst>
          </p:cNvPr>
          <p:cNvSpPr/>
          <p:nvPr/>
        </p:nvSpPr>
        <p:spPr>
          <a:xfrm>
            <a:off x="4761210" y="3611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English translation</a:t>
            </a:r>
            <a:endParaRPr lang="en-US" sz="1100" dirty="0"/>
          </a:p>
        </p:txBody>
      </p:sp>
      <p:sp>
        <p:nvSpPr>
          <p:cNvPr id="75" name="Text 58">
            <a:extLst>
              <a:ext uri="{FF2B5EF4-FFF2-40B4-BE49-F238E27FC236}">
                <a16:creationId xmlns:a16="http://schemas.microsoft.com/office/drawing/2014/main" id="{76636C6E-0163-C4D2-7D40-A764C8629666}"/>
              </a:ext>
            </a:extLst>
          </p:cNvPr>
          <p:cNvSpPr/>
          <p:nvPr/>
        </p:nvSpPr>
        <p:spPr>
          <a:xfrm>
            <a:off x="4761210" y="3867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/ Interviewee labels  · English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24102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9EEB-1BFF-705A-7339-E6842EBD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872B2F-D17C-7379-C905-036E9A635642}"/>
              </a:ext>
            </a:extLst>
          </p:cNvPr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External Dependencies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BF9E87-DA92-05BD-1FE4-5987A6D2D5C9}"/>
              </a:ext>
            </a:extLst>
          </p:cNvPr>
          <p:cNvSpPr/>
          <p:nvPr/>
        </p:nvSpPr>
        <p:spPr>
          <a:xfrm>
            <a:off x="365760" y="6217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S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plit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i="1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BB6660C-EDE6-C70F-A956-7FE86A39D845}"/>
              </a:ext>
            </a:extLst>
          </p:cNvPr>
          <p:cNvSpPr/>
          <p:nvPr/>
        </p:nvSpPr>
        <p:spPr>
          <a:xfrm>
            <a:off x="1656470" y="1607515"/>
            <a:ext cx="146937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5927307-CFE2-71F2-7981-A072F5AF38CD}"/>
              </a:ext>
            </a:extLst>
          </p:cNvPr>
          <p:cNvSpPr/>
          <p:nvPr/>
        </p:nvSpPr>
        <p:spPr>
          <a:xfrm>
            <a:off x="3072384" y="1493215"/>
            <a:ext cx="63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30FEEF-D035-DD1E-4AC3-329ED1BF14AF}"/>
              </a:ext>
            </a:extLst>
          </p:cNvPr>
          <p:cNvSpPr/>
          <p:nvPr/>
        </p:nvSpPr>
        <p:spPr>
          <a:xfrm>
            <a:off x="422030" y="3365319"/>
            <a:ext cx="1234440" cy="822960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D90B929-472C-B076-ED00-F5F2C6A2662F}"/>
              </a:ext>
            </a:extLst>
          </p:cNvPr>
          <p:cNvSpPr/>
          <p:nvPr/>
        </p:nvSpPr>
        <p:spPr>
          <a:xfrm>
            <a:off x="422030" y="3365319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03A1DBC-B882-1B42-FDCD-A1B43A0E97C0}"/>
              </a:ext>
            </a:extLst>
          </p:cNvPr>
          <p:cNvSpPr/>
          <p:nvPr/>
        </p:nvSpPr>
        <p:spPr>
          <a:xfrm>
            <a:off x="422030" y="3875554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</a:t>
            </a:r>
            <a:endParaRPr lang="en-US" sz="900" dirty="0"/>
          </a:p>
        </p:txBody>
      </p:sp>
      <p:sp>
        <p:nvSpPr>
          <p:cNvPr id="5" name="Shape 17">
            <a:extLst>
              <a:ext uri="{FF2B5EF4-FFF2-40B4-BE49-F238E27FC236}">
                <a16:creationId xmlns:a16="http://schemas.microsoft.com/office/drawing/2014/main" id="{6ED02094-9316-D758-E650-7B38BE77BF29}"/>
              </a:ext>
            </a:extLst>
          </p:cNvPr>
          <p:cNvSpPr/>
          <p:nvPr/>
        </p:nvSpPr>
        <p:spPr>
          <a:xfrm>
            <a:off x="422030" y="1196035"/>
            <a:ext cx="1234440" cy="8229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97E49EBB-E1D1-D93C-F94B-E3805C47AEDF}"/>
              </a:ext>
            </a:extLst>
          </p:cNvPr>
          <p:cNvSpPr/>
          <p:nvPr/>
        </p:nvSpPr>
        <p:spPr>
          <a:xfrm>
            <a:off x="422030" y="1196035"/>
            <a:ext cx="12344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528A46A7-EF48-9F08-7B93-227856DE47E9}"/>
              </a:ext>
            </a:extLst>
          </p:cNvPr>
          <p:cNvSpPr/>
          <p:nvPr/>
        </p:nvSpPr>
        <p:spPr>
          <a:xfrm>
            <a:off x="422030" y="1706270"/>
            <a:ext cx="12344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and Translate</a:t>
            </a:r>
            <a:endParaRPr lang="en-US" sz="900" dirty="0"/>
          </a:p>
        </p:txBody>
      </p:sp>
      <p:sp>
        <p:nvSpPr>
          <p:cNvPr id="8" name="Shape 43">
            <a:extLst>
              <a:ext uri="{FF2B5EF4-FFF2-40B4-BE49-F238E27FC236}">
                <a16:creationId xmlns:a16="http://schemas.microsoft.com/office/drawing/2014/main" id="{089CC0C1-9941-65B8-2D6E-5CA9BB6152BF}"/>
              </a:ext>
            </a:extLst>
          </p:cNvPr>
          <p:cNvSpPr/>
          <p:nvPr/>
        </p:nvSpPr>
        <p:spPr>
          <a:xfrm>
            <a:off x="3144832" y="1200150"/>
            <a:ext cx="4114800" cy="818845"/>
          </a:xfrm>
          <a:prstGeom prst="rect">
            <a:avLst/>
          </a:prstGeom>
          <a:solidFill>
            <a:srgbClr val="E1F5EE"/>
          </a:solidFill>
          <a:ln w="1016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44">
            <a:extLst>
              <a:ext uri="{FF2B5EF4-FFF2-40B4-BE49-F238E27FC236}">
                <a16:creationId xmlns:a16="http://schemas.microsoft.com/office/drawing/2014/main" id="{2D2EF92E-DBF3-3E43-6BDE-0D6C4B685A9C}"/>
              </a:ext>
            </a:extLst>
          </p:cNvPr>
          <p:cNvSpPr/>
          <p:nvPr/>
        </p:nvSpPr>
        <p:spPr>
          <a:xfrm>
            <a:off x="3259132" y="127330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Files API</a:t>
            </a:r>
            <a:endParaRPr lang="en-US" sz="1100" dirty="0"/>
          </a:p>
        </p:txBody>
      </p:sp>
      <p:sp>
        <p:nvSpPr>
          <p:cNvPr id="33" name="Text 46">
            <a:extLst>
              <a:ext uri="{FF2B5EF4-FFF2-40B4-BE49-F238E27FC236}">
                <a16:creationId xmlns:a16="http://schemas.microsoft.com/office/drawing/2014/main" id="{D68BE67D-9251-5C83-555B-A6653FB89260}"/>
              </a:ext>
            </a:extLst>
          </p:cNvPr>
          <p:cNvSpPr/>
          <p:nvPr/>
        </p:nvSpPr>
        <p:spPr>
          <a:xfrm>
            <a:off x="3295708" y="154305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gemini-3-flash  ·  temp 0.1  ·  5 min timeout  ·  retry ×3</a:t>
            </a:r>
            <a:endParaRPr lang="en-US" sz="900" dirty="0"/>
          </a:p>
        </p:txBody>
      </p:sp>
      <p:sp>
        <p:nvSpPr>
          <p:cNvPr id="39" name="Shape 47">
            <a:extLst>
              <a:ext uri="{FF2B5EF4-FFF2-40B4-BE49-F238E27FC236}">
                <a16:creationId xmlns:a16="http://schemas.microsoft.com/office/drawing/2014/main" id="{F0F58185-4AC5-469D-1292-DA662EA3F0BB}"/>
              </a:ext>
            </a:extLst>
          </p:cNvPr>
          <p:cNvSpPr/>
          <p:nvPr/>
        </p:nvSpPr>
        <p:spPr>
          <a:xfrm>
            <a:off x="3135688" y="2005278"/>
            <a:ext cx="4114800" cy="1018255"/>
          </a:xfrm>
          <a:prstGeom prst="rect">
            <a:avLst/>
          </a:prstGeom>
          <a:solidFill>
            <a:srgbClr val="FAEEDA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48">
            <a:extLst>
              <a:ext uri="{FF2B5EF4-FFF2-40B4-BE49-F238E27FC236}">
                <a16:creationId xmlns:a16="http://schemas.microsoft.com/office/drawing/2014/main" id="{BB45EC44-0DE5-60B5-FC14-F93AACA4A123}"/>
              </a:ext>
            </a:extLst>
          </p:cNvPr>
          <p:cNvSpPr/>
          <p:nvPr/>
        </p:nvSpPr>
        <p:spPr>
          <a:xfrm>
            <a:off x="3249988" y="2087715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Console — </a:t>
            </a: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($0.5 /1hr audio; $0.0075 /min)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41" name="Text 49">
            <a:extLst>
              <a:ext uri="{FF2B5EF4-FFF2-40B4-BE49-F238E27FC236}">
                <a16:creationId xmlns:a16="http://schemas.microsoft.com/office/drawing/2014/main" id="{FAB7BFED-DF64-C5AD-5ED4-B141A0D74BC0}"/>
              </a:ext>
            </a:extLst>
          </p:cNvPr>
          <p:cNvSpPr/>
          <p:nvPr/>
        </p:nvSpPr>
        <p:spPr>
          <a:xfrm>
            <a:off x="3272848" y="2329891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payments done yet</a:t>
            </a: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26C15342-EF9D-D081-9BD0-FA0E9F60F852}"/>
              </a:ext>
            </a:extLst>
          </p:cNvPr>
          <p:cNvSpPr/>
          <p:nvPr/>
        </p:nvSpPr>
        <p:spPr>
          <a:xfrm>
            <a:off x="1646622" y="3760924"/>
            <a:ext cx="146937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A05AF6E0-2F26-1DE0-512E-99496416D820}"/>
              </a:ext>
            </a:extLst>
          </p:cNvPr>
          <p:cNvSpPr/>
          <p:nvPr/>
        </p:nvSpPr>
        <p:spPr>
          <a:xfrm>
            <a:off x="3062536" y="3646624"/>
            <a:ext cx="63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63FF"/>
                </a:solidFill>
              </a:rPr>
              <a:t>▶</a:t>
            </a:r>
            <a:endParaRPr lang="en-US" sz="800" dirty="0"/>
          </a:p>
        </p:txBody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A4245607-317E-0E01-F836-92A19BFD2A77}"/>
              </a:ext>
            </a:extLst>
          </p:cNvPr>
          <p:cNvSpPr/>
          <p:nvPr/>
        </p:nvSpPr>
        <p:spPr>
          <a:xfrm>
            <a:off x="3144832" y="3383795"/>
            <a:ext cx="4114800" cy="818845"/>
          </a:xfrm>
          <a:prstGeom prst="rect">
            <a:avLst/>
          </a:prstGeom>
          <a:solidFill>
            <a:srgbClr val="E1F5EE"/>
          </a:solidFill>
          <a:ln w="10160">
            <a:solidFill>
              <a:srgbClr val="0F9B8E"/>
            </a:solidFill>
            <a:prstDash val="solid"/>
          </a:ln>
        </p:spPr>
        <p:txBody>
          <a:bodyPr/>
          <a:lstStyle/>
          <a:p>
            <a:br>
              <a:rPr lang="en-IN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IN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– Netlify , Render</a:t>
            </a:r>
            <a:r>
              <a:rPr lang="en-US" sz="11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post free-tier credits</a:t>
            </a:r>
            <a:r>
              <a:rPr lang="en-IN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IN" sz="1100" dirty="0"/>
            </a:br>
            <a:endParaRPr lang="en-IN" sz="1100" dirty="0"/>
          </a:p>
        </p:txBody>
      </p:sp>
      <p:sp>
        <p:nvSpPr>
          <p:cNvPr id="52" name="Text 44">
            <a:extLst>
              <a:ext uri="{FF2B5EF4-FFF2-40B4-BE49-F238E27FC236}">
                <a16:creationId xmlns:a16="http://schemas.microsoft.com/office/drawing/2014/main" id="{2BD5060B-E5A7-33BF-4FE9-ABE80F4930C1}"/>
              </a:ext>
            </a:extLst>
          </p:cNvPr>
          <p:cNvSpPr/>
          <p:nvPr/>
        </p:nvSpPr>
        <p:spPr>
          <a:xfrm>
            <a:off x="3259132" y="345694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3" name="Text 46">
            <a:extLst>
              <a:ext uri="{FF2B5EF4-FFF2-40B4-BE49-F238E27FC236}">
                <a16:creationId xmlns:a16="http://schemas.microsoft.com/office/drawing/2014/main" id="{4ED96267-504B-9793-D336-9BD4A1A3FADB}"/>
              </a:ext>
            </a:extLst>
          </p:cNvPr>
          <p:cNvSpPr/>
          <p:nvPr/>
        </p:nvSpPr>
        <p:spPr>
          <a:xfrm>
            <a:off x="3295708" y="372669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IN" dirty="0"/>
              <a:t> </a:t>
            </a:r>
            <a:r>
              <a:rPr lang="en-IN" sz="1000" dirty="0"/>
              <a:t>-</a:t>
            </a:r>
            <a:r>
              <a:rPr lang="en-IN" dirty="0"/>
              <a:t> </a:t>
            </a:r>
            <a:r>
              <a:rPr lang="en-IN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n-IN" dirty="0"/>
              <a:t>  </a:t>
            </a:r>
            <a:r>
              <a:rPr lang="en-IN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n-IN" dirty="0"/>
              <a:t> </a:t>
            </a:r>
            <a:r>
              <a:rPr lang="en-IN" sz="1100" dirty="0"/>
              <a:t>-</a:t>
            </a:r>
            <a:r>
              <a:rPr lang="en-IN" dirty="0"/>
              <a:t> </a:t>
            </a:r>
            <a:r>
              <a:rPr lang="en-IN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</a:p>
        </p:txBody>
      </p:sp>
      <p:sp>
        <p:nvSpPr>
          <p:cNvPr id="4" name="Text 49">
            <a:extLst>
              <a:ext uri="{FF2B5EF4-FFF2-40B4-BE49-F238E27FC236}">
                <a16:creationId xmlns:a16="http://schemas.microsoft.com/office/drawing/2014/main" id="{5469BC68-7657-43BB-7BEC-31848B652CEA}"/>
              </a:ext>
            </a:extLst>
          </p:cNvPr>
          <p:cNvSpPr/>
          <p:nvPr/>
        </p:nvSpPr>
        <p:spPr>
          <a:xfrm>
            <a:off x="3394358" y="2551325"/>
            <a:ext cx="3570028" cy="36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1-hr testing pending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 be done post payment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0579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640080" cy="640080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283464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2496312"/>
            <a:ext cx="347472" cy="347472"/>
          </a:xfrm>
          <a:prstGeom prst="ellipse">
            <a:avLst/>
          </a:prstGeom>
          <a:solidFill>
            <a:srgbClr val="B5D4F4">
              <a:alpha val="70000"/>
            </a:srgbClr>
          </a:solidFill>
          <a:ln w="12700">
            <a:solidFill>
              <a:srgbClr val="B5D4F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2496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660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script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labels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136392"/>
            <a:ext cx="283464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3300984"/>
            <a:ext cx="347472" cy="347472"/>
          </a:xfrm>
          <a:prstGeom prst="ellipse">
            <a:avLst/>
          </a:prstGeom>
          <a:solidFill>
            <a:srgbClr val="9FE1CB">
              <a:alpha val="70000"/>
            </a:srgbClr>
          </a:solidFill>
          <a:ln w="12700">
            <a:solidFill>
              <a:srgbClr val="9FE1C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3300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191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465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r>
              <a:rPr lang="en-US" sz="900" dirty="0"/>
              <a:t> </a:t>
            </a:r>
            <a:r>
              <a:rPr lang="en-US" sz="900" dirty="0">
                <a:solidFill>
                  <a:srgbClr val="9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speaker labels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2834640" cy="685800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105656"/>
            <a:ext cx="347472" cy="347472"/>
          </a:xfrm>
          <a:prstGeom prst="ellipse">
            <a:avLst/>
          </a:prstGeom>
          <a:solidFill>
            <a:srgbClr val="FAC775">
              <a:alpha val="70000"/>
            </a:srgbClr>
          </a:solidFill>
          <a:ln w="12700">
            <a:solidFill>
              <a:srgbClr val="FAC77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4105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2702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 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file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  DOCX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9E4838F-1B0A-43A6-0891-A59C1CC4CD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49" r="19441"/>
          <a:stretch>
            <a:fillRect/>
          </a:stretch>
        </p:blipFill>
        <p:spPr>
          <a:xfrm>
            <a:off x="3703320" y="348175"/>
            <a:ext cx="4846321" cy="4447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of Audio Transcription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457200" cy="457200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Audio Format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MP3, WAV, M4A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37560" y="987552"/>
            <a:ext cx="457200" cy="457200"/>
          </a:xfrm>
          <a:prstGeom prst="ellipse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987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Chunking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chunks with 60s overlap — no speech lost at boundaries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877824"/>
            <a:ext cx="2651760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26480" y="822960"/>
            <a:ext cx="2651760" cy="54864"/>
          </a:xfrm>
          <a:prstGeom prst="rect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263640" y="987552"/>
            <a:ext cx="457200" cy="457200"/>
          </a:xfrm>
          <a:prstGeom prst="ellipse">
            <a:avLst/>
          </a:prstGeom>
          <a:solidFill>
            <a:srgbClr val="27500A">
              <a:alpha val="20000"/>
            </a:srgbClr>
          </a:solidFill>
          <a:ln w="12700">
            <a:solidFill>
              <a:srgbClr val="27500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63640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987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language automatically — Indian &amp; international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63040" y="2658794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463040" y="2624328"/>
            <a:ext cx="265176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1600200" y="2788920"/>
            <a:ext cx="457200" cy="457200"/>
          </a:xfrm>
          <a:prstGeom prst="ellipse">
            <a:avLst/>
          </a:prstGeom>
          <a:solidFill>
            <a:srgbClr val="854F0B">
              <a:alpha val="20000"/>
            </a:srgbClr>
          </a:solidFill>
          <a:ln w="12700">
            <a:solidFill>
              <a:srgbClr val="854F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6002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4884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(SSE)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00200" y="33375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percent updates of each progressing phase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659497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2659497"/>
            <a:ext cx="2651760" cy="54864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92040" y="2824089"/>
            <a:ext cx="457200" cy="457200"/>
          </a:xfrm>
          <a:prstGeom prst="ellipse">
            <a:avLst/>
          </a:prstGeom>
          <a:solidFill>
            <a:srgbClr val="993556">
              <a:alpha val="20000"/>
            </a:srgbClr>
          </a:solidFill>
          <a:ln w="12700">
            <a:solidFill>
              <a:srgbClr val="99355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282408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2824089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DOCX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372729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original language transcription, English translation, or combined.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023360" y="845820"/>
            <a:ext cx="1097280" cy="10972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023360" y="8458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&amp; Translate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Any Language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speechtoscript.netlify.app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342</Words>
  <Application>Microsoft Office PowerPoint</Application>
  <PresentationFormat>On-screen Show (16:9)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Transcription System</dc:title>
  <dc:subject>PptxGenJS Presentation</dc:subject>
  <dc:creator>PptxGenJS</dc:creator>
  <cp:lastModifiedBy>Aswathi P</cp:lastModifiedBy>
  <cp:revision>6</cp:revision>
  <dcterms:created xsi:type="dcterms:W3CDTF">2026-04-21T06:06:07Z</dcterms:created>
  <dcterms:modified xsi:type="dcterms:W3CDTF">2026-04-21T09:28:57Z</dcterms:modified>
</cp:coreProperties>
</file>